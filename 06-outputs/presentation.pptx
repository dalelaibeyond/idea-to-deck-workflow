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Good morning, everyone. Thank you for gathering today. For almost half a century, ICS has built its name on one thing: supporting the Philippines' most important companies with the technology they rely on. From servers and storage to SAP implementations, our name means trust. But the market is changing underneath us. The economics of the hardware business we have known are quietly eroding, year after year. Today, I want to talk about a new direction. A direction that protects everything we have built, and turns our greatest asset — our customer relationships — into the engine of our next chapter. I am going to show you why building AI Agent capabilities is the most important strategic decision ICS can make right now.</a:t>
            </a:r>
          </a:p>
          <a:p/>
          <a:p>
            <a:r>
              <a:t>[Delivery Mindset]</a:t>
            </a:r>
          </a:p>
          <a:p>
            <a:r>
              <a:t>Confident, grounded opening. Establish credibility and respect for ICS's history before introducing urgency.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Let's be direct about the problem. The hardware business that built ICS is no longer a source of durable profit. Across the industry, 84 percent of system integrators are now running hardware margins at 30 percent or below. Servers and storage — the heart of our CORE segment — slipped to single-digit margins this year. Industry-wide gross margins dropped by roughly three points in the last twelve months alone. And here is the structural trap: 76 percent of our installation revenue is still tied to equipment, not to the services and expertise where the value now lives. Every major industry observer says the same thing. Resale, on its own, no longer works as a business model. This is not a cyclical dip. This is a permanent reset. And it affects us directly.</a:t>
            </a:r>
          </a:p>
          <a:p/>
          <a:p>
            <a:r>
              <a:t>[Delivery Mindset]</a:t>
            </a:r>
          </a:p>
          <a:p>
            <a:r>
              <a:t>Gravitas and directness. Slow down on "permanent reset." Let the numbers land before moving forward.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Now, the opportunity. The global market for AI Agents is expected to grow from about eight billion dollars today to more than fifty-two billion by 2030 — a growth rate of roughly 46 percent a year. And this is not a distant Western trend. The Philippine AI market alone is projected to grow from 772 million dollars to nearly three and a half billion by 2030. Meanwhile, our own clients are hungry for AI. Seven in ten enterprises across Southeast Asia see a return on generative AI within a year. Here is the most important number for ICS: only two percent of Philippine organizations have reached what experts call the 'Integrator' stage of AI maturity. Not a single one has reached 'Leader' stage. The door is wide open. Someone will walk through it. It should be us.</a:t>
            </a:r>
          </a:p>
          <a:p/>
          <a:p>
            <a:r>
              <a:t>[Delivery Mindset]</a:t>
            </a:r>
          </a:p>
          <a:p>
            <a:r>
              <a:t>Energy rises. Momentum builds through the three numbers. Emphasize "It should be us" with conviction.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Why ICS? Because we are not starting from zero. First, trust. Forty-eight years of working inside the Philippines' most important companies — handling their audits, their SAP systems, their security. There is no substitute for that foundation, and no newcomer can buy it overnight. We estimate it protects our position for three to five years. Second, expertise. The work we already do — IT System Audit, SAP, and Managed Detection and Response — are exactly the use cases where AI Agents deliver thirty to forty percent productivity improvements. We do not need to invent new business; we need to make our existing business smarter. Third, the platforms have matured. Microsoft and Salesforce have built the agent engines, and they need local integrators like ICS to deploy, customize, and run them.</a:t>
            </a:r>
          </a:p>
          <a:p/>
          <a:p>
            <a:r>
              <a:t>[Delivery Mindset]</a:t>
            </a:r>
          </a:p>
          <a:p>
            <a:r>
              <a:t>Confident, assured. Slow pace. Claim the advantage without arrogance — grounded in facts.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So what does the plan look like? We propose three pillars, built on business we already have. First, IT Audit Automation. We can automate compliance checks and audit reporting — turning a labor-intensive service into scalable, high-margin revenue. Second, SAP Enhancement. We already run the ERP backbone for over a hundred Philippine companies. Adding AI monitoring and anomaly detection is a natural upsell. Third, AI-Powered MDR. We already resell WatchGuard and ConnectWise. Wrapping those with AI response lets us charge premium, tiered prices. And under all three, an enablement engine: hiring AI talent, signing Microsoft and Salesforce partnerships, and proving ourselves with two to three anchor-client pilots within the first ninety days.</a:t>
            </a:r>
          </a:p>
          <a:p/>
          <a:p>
            <a:r>
              <a:t>[Delivery Mindset]</a:t>
            </a:r>
          </a:p>
          <a:p>
            <a:r>
              <a:t>Clear, structured, practical. This is the "how" — keep it simple and credible.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[Voiceover]</a:t>
            </a:r>
          </a:p>
          <a:p>
            <a:r>
              <a:t>So today, I am asking the board for one decision: approve the creation of an AI Agent Practice, starting with a ninety-day kickoff. That kickoff covers three things: building a small certified team, signing Microsoft and Salesforce platform partnerships, and delivering real pilots with two to three anchor clients. The cost is modest and talent-led — training and partnership fees, not heavy capital. The risk of delay is the opposite of modest. ePLDT has already launched the country's first sovereign AI stack. AI-native integrators are entering the market as we speak. Every quarter we wait, the two-percent window gets smaller. Approve this and we protect our forty-year customer base while building premium, service-driven margins for the next decade. Thank you. I welcome your questions.</a:t>
            </a:r>
          </a:p>
          <a:p/>
          <a:p>
            <a:r>
              <a:t>[Delivery Mindset]</a:t>
            </a:r>
          </a:p>
          <a:p>
            <a:r>
              <a:t>Calm, decisive close. Direct eye contact on the final ask — "one decision." Gracious, open body language for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237744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40080"/>
            <a:ext cx="10332720" cy="457200"/>
          </a:xfrm>
          <a:prstGeom prst="rect">
            <a:avLst/>
          </a:prstGeom>
          <a:noFill/>
        </p:spPr>
        <p:txBody>
          <a:bodyPr wrap="square" anchor="t">
            <a:spAutoFit/>
          </a:bodyPr>
          <a:lstStyle/>
          <a:p>
            <a:pPr algn="l">
              <a:lnSpc>
                <a:spcPct val="115000"/>
              </a:lnSpc>
            </a:pPr>
            <a:r>
              <a:rPr sz="1200" b="1" i="0">
                <a:solidFill>
                  <a:srgbClr val="0D9488"/>
                </a:solidFill>
                <a:latin typeface="Calibri"/>
              </a:rPr>
              <a:t>ICS STRATEGY</a:t>
            </a:r>
          </a:p>
        </p:txBody>
      </p:sp>
      <p:sp>
        <p:nvSpPr>
          <p:cNvPr id="4" name="TextBox 3"/>
          <p:cNvSpPr txBox="1"/>
          <p:nvPr/>
        </p:nvSpPr>
        <p:spPr>
          <a:xfrm>
            <a:off x="1371600" y="2286000"/>
            <a:ext cx="9418320" cy="1463040"/>
          </a:xfrm>
          <a:prstGeom prst="rect">
            <a:avLst/>
          </a:prstGeom>
          <a:noFill/>
        </p:spPr>
        <p:txBody>
          <a:bodyPr wrap="square" anchor="ctr">
            <a:spAutoFit/>
          </a:bodyPr>
          <a:lstStyle/>
          <a:p>
            <a:pPr algn="ctr">
              <a:lnSpc>
                <a:spcPct val="115000"/>
              </a:lnSpc>
            </a:pPr>
            <a:r>
              <a:rPr sz="3600" b="1" i="0">
                <a:solidFill>
                  <a:srgbClr val="FFFFFF"/>
                </a:solidFill>
                <a:latin typeface="Calibri"/>
              </a:rPr>
              <a:t>ICS's Hardware-Driven Model Faces Structural Margin Compression</a:t>
            </a:r>
          </a:p>
        </p:txBody>
      </p:sp>
      <p:sp>
        <p:nvSpPr>
          <p:cNvPr id="5" name="TextBox 4"/>
          <p:cNvSpPr txBox="1"/>
          <p:nvPr/>
        </p:nvSpPr>
        <p:spPr>
          <a:xfrm>
            <a:off x="1371600" y="4206240"/>
            <a:ext cx="9418320" cy="822960"/>
          </a:xfrm>
          <a:prstGeom prst="rect">
            <a:avLst/>
          </a:prstGeom>
          <a:noFill/>
        </p:spPr>
        <p:txBody>
          <a:bodyPr wrap="square" anchor="t">
            <a:spAutoFit/>
          </a:bodyPr>
          <a:lstStyle/>
          <a:p>
            <a:pPr algn="ctr">
              <a:lnSpc>
                <a:spcPct val="115000"/>
              </a:lnSpc>
            </a:pPr>
            <a:r>
              <a:rPr sz="1800" b="0" i="0">
                <a:solidFill>
                  <a:srgbClr val="2563EB"/>
                </a:solidFill>
                <a:latin typeface="Calibri"/>
              </a:rPr>
              <a:t>48 years of client trust gives ICS the edge to lead the AI Agent era.</a:t>
            </a:r>
          </a:p>
        </p:txBody>
      </p:sp>
      <p:sp>
        <p:nvSpPr>
          <p:cNvPr id="6" name="TextBox 5"/>
          <p:cNvSpPr txBox="1"/>
          <p:nvPr/>
        </p:nvSpPr>
        <p:spPr>
          <a:xfrm>
            <a:off x="1371600" y="5029200"/>
            <a:ext cx="9418320" cy="914400"/>
          </a:xfrm>
          <a:prstGeom prst="rect">
            <a:avLst/>
          </a:prstGeom>
          <a:noFill/>
        </p:spPr>
        <p:txBody>
          <a:bodyPr wrap="square" anchor="t">
            <a:spAutoFit/>
          </a:bodyPr>
          <a:lstStyle/>
          <a:p>
            <a:pPr algn="ctr">
              <a:lnSpc>
                <a:spcPct val="115000"/>
              </a:lnSpc>
            </a:pPr>
            <a:r>
              <a:rPr sz="1400" b="0" i="0">
                <a:solidFill>
                  <a:srgbClr val="64748B"/>
                </a:solidFill>
                <a:latin typeface="Calibri"/>
              </a:rPr>
              <a:t>The economics of traditional system integration are permanently changing. ICS must evolve from hardware reseller to AI services partner.</a:t>
            </a:r>
          </a:p>
        </p:txBody>
      </p:sp>
      <p:sp>
        <p:nvSpPr>
          <p:cNvPr id="7" name="Rounded Rectangle 6"/>
          <p:cNvSpPr/>
          <p:nvPr/>
        </p:nvSpPr>
        <p:spPr>
          <a:xfrm>
            <a:off x="4270248" y="6035040"/>
            <a:ext cx="3657600" cy="18288"/>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6126480"/>
            <a:ext cx="9418320" cy="457200"/>
          </a:xfrm>
          <a:prstGeom prst="rect">
            <a:avLst/>
          </a:prstGeom>
          <a:noFill/>
        </p:spPr>
        <p:txBody>
          <a:bodyPr wrap="square" anchor="t">
            <a:spAutoFit/>
          </a:bodyPr>
          <a:lstStyle/>
          <a:p>
            <a:pPr algn="ctr">
              <a:lnSpc>
                <a:spcPct val="115000"/>
              </a:lnSpc>
            </a:pPr>
            <a:r>
              <a:rPr sz="1100" b="0" i="0">
                <a:solidFill>
                  <a:srgbClr val="64748B"/>
                </a:solidFill>
                <a:latin typeface="Calibri"/>
              </a:rPr>
              <a:t>ICS Board Strategy Meeting  |  AI Agent Transformation Proposal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822960"/>
          </a:xfrm>
          <a:prstGeom prst="rect">
            <a:avLst/>
          </a:prstGeom>
          <a:noFill/>
        </p:spPr>
        <p:txBody>
          <a:bodyPr wrap="square" anchor="t">
            <a:spAutoFit/>
          </a:bodyPr>
          <a:lstStyle/>
          <a:p>
            <a:pPr algn="l">
              <a:lnSpc>
                <a:spcPct val="115000"/>
              </a:lnSpc>
            </a:pPr>
            <a:r>
              <a:rPr sz="2400" b="1" i="0">
                <a:solidFill>
                  <a:srgbClr val="0F172A"/>
                </a:solidFill>
                <a:latin typeface="Calibri"/>
              </a:rPr>
              <a:t>Legacy Hardware Resale No Longer Sustains Profitable Growth</a:t>
            </a:r>
          </a:p>
        </p:txBody>
      </p:sp>
      <p:sp>
        <p:nvSpPr>
          <p:cNvPr id="4" name="Rounded Rectangle 3"/>
          <p:cNvSpPr/>
          <p:nvPr/>
        </p:nvSpPr>
        <p:spPr>
          <a:xfrm>
            <a:off x="731520" y="1828800"/>
            <a:ext cx="5029200" cy="420624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377440"/>
            <a:ext cx="4480560" cy="3474720"/>
          </a:xfrm>
          <a:prstGeom prst="rect">
            <a:avLst/>
          </a:prstGeom>
          <a:noFill/>
        </p:spPr>
        <p:txBody>
          <a:bodyPr wrap="square" anchor="ctr">
            <a:spAutoFit/>
          </a:bodyPr>
          <a:lstStyle/>
          <a:p>
            <a:pPr algn="l">
              <a:lnSpc>
                <a:spcPct val="120000"/>
              </a:lnSpc>
            </a:pPr>
            <a:r>
              <a:rPr sz="2000" b="1" i="0">
                <a:solidFill>
                  <a:srgbClr val="0F172A"/>
                </a:solidFill>
                <a:latin typeface="Calibri"/>
              </a:rPr>
              <a:t>84% of integrators run hardware margins at or below 30%</a:t>
            </a:r>
          </a:p>
        </p:txBody>
      </p:sp>
      <p:sp>
        <p:nvSpPr>
          <p:cNvPr id="6" name="TextBox 5"/>
          <p:cNvSpPr txBox="1"/>
          <p:nvPr/>
        </p:nvSpPr>
        <p:spPr>
          <a:xfrm>
            <a:off x="6217920" y="2011680"/>
            <a:ext cx="5212080" cy="4023360"/>
          </a:xfrm>
          <a:prstGeom prst="rect">
            <a:avLst/>
          </a:prstGeom>
          <a:noFill/>
        </p:spPr>
        <p:txBody>
          <a:bodyPr wrap="square">
            <a:spAutoFit/>
          </a:bodyPr>
          <a:lstStyle/>
          <a:p>
            <a:pPr>
              <a:lnSpc>
                <a:spcPct val="115000"/>
              </a:lnSpc>
              <a:spcAft>
                <a:spcPts val="600"/>
              </a:spcAft>
            </a:pPr>
            <a:r>
              <a:rPr sz="1300">
                <a:solidFill>
                  <a:srgbClr val="1E293B"/>
                </a:solidFill>
              </a:rPr>
              <a:t>•  </a:t>
            </a:r>
            <a:r>
              <a:rPr sz="1300" b="1">
                <a:solidFill>
                  <a:srgbClr val="1E293B"/>
                </a:solidFill>
                <a:latin typeface="Calibri"/>
              </a:rPr>
              <a:t>Single-digit servers: </a:t>
            </a:r>
            <a:r>
              <a:rPr sz="1300" b="0">
                <a:solidFill>
                  <a:srgbClr val="1E293B"/>
                </a:solidFill>
                <a:latin typeface="Calibri"/>
              </a:rPr>
              <a:t> Server and storage margins slipped into single digits in 2025.</a:t>
            </a:r>
          </a:p>
          <a:p>
            <a:pPr>
              <a:lnSpc>
                <a:spcPct val="115000"/>
              </a:lnSpc>
              <a:spcAft>
                <a:spcPts val="600"/>
              </a:spcAft>
            </a:pPr>
            <a:r>
              <a:rPr sz="1300">
                <a:solidFill>
                  <a:srgbClr val="1E293B"/>
                </a:solidFill>
              </a:rPr>
              <a:t>•  </a:t>
            </a:r>
            <a:r>
              <a:rPr sz="1300" b="1">
                <a:solidFill>
                  <a:srgbClr val="1E293B"/>
                </a:solidFill>
                <a:latin typeface="Calibri"/>
              </a:rPr>
              <a:t>Declining gross margin: </a:t>
            </a:r>
            <a:r>
              <a:rPr sz="1300" b="0">
                <a:solidFill>
                  <a:srgbClr val="1E293B"/>
                </a:solidFill>
                <a:latin typeface="Calibri"/>
              </a:rPr>
              <a:t> Integrator gross margins fell from 41.9% to 38.6% in one year.</a:t>
            </a:r>
          </a:p>
          <a:p>
            <a:pPr>
              <a:lnSpc>
                <a:spcPct val="115000"/>
              </a:lnSpc>
              <a:spcAft>
                <a:spcPts val="600"/>
              </a:spcAft>
            </a:pPr>
            <a:r>
              <a:rPr sz="1300">
                <a:solidFill>
                  <a:srgbClr val="1E293B"/>
                </a:solidFill>
              </a:rPr>
              <a:t>•  </a:t>
            </a:r>
            <a:r>
              <a:rPr sz="1300" b="1">
                <a:solidFill>
                  <a:srgbClr val="1E293B"/>
                </a:solidFill>
                <a:latin typeface="Calibri"/>
              </a:rPr>
              <a:t>Equipment-bound revenue: </a:t>
            </a:r>
            <a:r>
              <a:rPr sz="1300" b="0">
                <a:solidFill>
                  <a:srgbClr val="1E293B"/>
                </a:solidFill>
                <a:latin typeface="Calibri"/>
              </a:rPr>
              <a:t> 76% of installation revenue is tied to hardware, not services.</a:t>
            </a:r>
          </a:p>
          <a:p>
            <a:pPr>
              <a:lnSpc>
                <a:spcPct val="115000"/>
              </a:lnSpc>
              <a:spcAft>
                <a:spcPts val="600"/>
              </a:spcAft>
            </a:pPr>
            <a:r>
              <a:rPr sz="1300">
                <a:solidFill>
                  <a:srgbClr val="1E293B"/>
                </a:solidFill>
              </a:rPr>
              <a:t>•  </a:t>
            </a:r>
            <a:r>
              <a:rPr sz="1300" b="1">
                <a:solidFill>
                  <a:srgbClr val="1E293B"/>
                </a:solidFill>
                <a:latin typeface="Calibri"/>
              </a:rPr>
              <a:t>The verdict: </a:t>
            </a:r>
            <a:r>
              <a:rPr sz="1300" b="0">
                <a:solidFill>
                  <a:srgbClr val="1E293B"/>
                </a:solidFill>
                <a:latin typeface="Calibri"/>
              </a:rPr>
              <a:t> "Resale stopped working as a standalone business." — DQ Channels</a:t>
            </a:r>
          </a:p>
        </p:txBody>
      </p:sp>
      <p:sp>
        <p:nvSpPr>
          <p:cNvPr id="7" name="Rounded Rectangle 6"/>
          <p:cNvSpPr/>
          <p:nvPr/>
        </p:nvSpPr>
        <p:spPr>
          <a:xfrm>
            <a:off x="0" y="6675120"/>
            <a:ext cx="12191695" cy="146304"/>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822960"/>
          </a:xfrm>
          <a:prstGeom prst="rect">
            <a:avLst/>
          </a:prstGeom>
          <a:noFill/>
        </p:spPr>
        <p:txBody>
          <a:bodyPr wrap="square" anchor="t">
            <a:spAutoFit/>
          </a:bodyPr>
          <a:lstStyle/>
          <a:p>
            <a:pPr algn="l">
              <a:lnSpc>
                <a:spcPct val="115000"/>
              </a:lnSpc>
            </a:pPr>
            <a:r>
              <a:rPr sz="2400" b="1" i="0">
                <a:solidFill>
                  <a:srgbClr val="0F172A"/>
                </a:solidFill>
                <a:latin typeface="Calibri"/>
              </a:rPr>
              <a:t>AI Agents Will Create a $52B Market by 2030 — and the Philippines Is Wide Open</a:t>
            </a:r>
          </a:p>
        </p:txBody>
      </p:sp>
      <p:sp>
        <p:nvSpPr>
          <p:cNvPr id="4" name="Rounded Rectangle 3"/>
          <p:cNvSpPr/>
          <p:nvPr/>
        </p:nvSpPr>
        <p:spPr>
          <a:xfrm>
            <a:off x="731520" y="2011680"/>
            <a:ext cx="3291840" cy="402336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2926080" cy="1645920"/>
          </a:xfrm>
          <a:prstGeom prst="rect">
            <a:avLst/>
          </a:prstGeom>
          <a:noFill/>
        </p:spPr>
        <p:txBody>
          <a:bodyPr wrap="square" anchor="ctr">
            <a:spAutoFit/>
          </a:bodyPr>
          <a:lstStyle/>
          <a:p>
            <a:pPr algn="l">
              <a:lnSpc>
                <a:spcPct val="115000"/>
              </a:lnSpc>
            </a:pPr>
            <a:r>
              <a:rPr sz="4000" b="1" i="0">
                <a:solidFill>
                  <a:srgbClr val="0D9488"/>
                </a:solidFill>
                <a:latin typeface="Calibri"/>
              </a:rPr>
              <a:t>$52.6B</a:t>
            </a:r>
          </a:p>
        </p:txBody>
      </p:sp>
      <p:sp>
        <p:nvSpPr>
          <p:cNvPr id="6" name="TextBox 5"/>
          <p:cNvSpPr txBox="1"/>
          <p:nvPr/>
        </p:nvSpPr>
        <p:spPr>
          <a:xfrm>
            <a:off x="914400" y="4023360"/>
            <a:ext cx="2926080" cy="731520"/>
          </a:xfrm>
          <a:prstGeom prst="rect">
            <a:avLst/>
          </a:prstGeom>
          <a:noFill/>
        </p:spPr>
        <p:txBody>
          <a:bodyPr wrap="square" anchor="t">
            <a:spAutoFit/>
          </a:bodyPr>
          <a:lstStyle/>
          <a:p>
            <a:pPr algn="l">
              <a:lnSpc>
                <a:spcPct val="115000"/>
              </a:lnSpc>
            </a:pPr>
            <a:r>
              <a:rPr sz="1500" b="1" i="0">
                <a:solidFill>
                  <a:srgbClr val="0F172A"/>
                </a:solidFill>
                <a:latin typeface="Calibri"/>
              </a:rPr>
              <a:t>Global AI Agents, 2030</a:t>
            </a:r>
          </a:p>
        </p:txBody>
      </p:sp>
      <p:sp>
        <p:nvSpPr>
          <p:cNvPr id="7" name="TextBox 6"/>
          <p:cNvSpPr txBox="1"/>
          <p:nvPr/>
        </p:nvSpPr>
        <p:spPr>
          <a:xfrm>
            <a:off x="914400" y="4572000"/>
            <a:ext cx="2926080" cy="1280160"/>
          </a:xfrm>
          <a:prstGeom prst="rect">
            <a:avLst/>
          </a:prstGeom>
          <a:noFill/>
        </p:spPr>
        <p:txBody>
          <a:bodyPr wrap="square" anchor="t">
            <a:spAutoFit/>
          </a:bodyPr>
          <a:lstStyle/>
          <a:p>
            <a:pPr algn="l">
              <a:lnSpc>
                <a:spcPct val="125000"/>
              </a:lnSpc>
            </a:pPr>
            <a:r>
              <a:rPr sz="1100" b="0" i="0">
                <a:solidFill>
                  <a:srgbClr val="64748B"/>
                </a:solidFill>
                <a:latin typeface="Calibri"/>
              </a:rPr>
              <a:t>Growing from $7.8B at 46.3% CAGR. Asia Pacific leads the curve.</a:t>
            </a:r>
          </a:p>
        </p:txBody>
      </p:sp>
      <p:sp>
        <p:nvSpPr>
          <p:cNvPr id="8" name="Rounded Rectangle 7"/>
          <p:cNvSpPr/>
          <p:nvPr/>
        </p:nvSpPr>
        <p:spPr>
          <a:xfrm>
            <a:off x="4389120" y="2011680"/>
            <a:ext cx="3291840" cy="402336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286000"/>
            <a:ext cx="2926080" cy="1645920"/>
          </a:xfrm>
          <a:prstGeom prst="rect">
            <a:avLst/>
          </a:prstGeom>
          <a:noFill/>
        </p:spPr>
        <p:txBody>
          <a:bodyPr wrap="square" anchor="ctr">
            <a:spAutoFit/>
          </a:bodyPr>
          <a:lstStyle/>
          <a:p>
            <a:pPr algn="l">
              <a:lnSpc>
                <a:spcPct val="115000"/>
              </a:lnSpc>
            </a:pPr>
            <a:r>
              <a:rPr sz="4000" b="1" i="0">
                <a:solidFill>
                  <a:srgbClr val="0D9488"/>
                </a:solidFill>
                <a:latin typeface="Calibri"/>
              </a:rPr>
              <a:t>$3.49B</a:t>
            </a:r>
          </a:p>
        </p:txBody>
      </p:sp>
      <p:sp>
        <p:nvSpPr>
          <p:cNvPr id="10" name="TextBox 9"/>
          <p:cNvSpPr txBox="1"/>
          <p:nvPr/>
        </p:nvSpPr>
        <p:spPr>
          <a:xfrm>
            <a:off x="4572000" y="4023360"/>
            <a:ext cx="2926080" cy="731520"/>
          </a:xfrm>
          <a:prstGeom prst="rect">
            <a:avLst/>
          </a:prstGeom>
          <a:noFill/>
        </p:spPr>
        <p:txBody>
          <a:bodyPr wrap="square" anchor="t">
            <a:spAutoFit/>
          </a:bodyPr>
          <a:lstStyle/>
          <a:p>
            <a:pPr algn="l">
              <a:lnSpc>
                <a:spcPct val="115000"/>
              </a:lnSpc>
            </a:pPr>
            <a:r>
              <a:rPr sz="1500" b="1" i="0">
                <a:solidFill>
                  <a:srgbClr val="0F172A"/>
                </a:solidFill>
                <a:latin typeface="Calibri"/>
              </a:rPr>
              <a:t>Philippine AI market, 2030</a:t>
            </a:r>
          </a:p>
        </p:txBody>
      </p:sp>
      <p:sp>
        <p:nvSpPr>
          <p:cNvPr id="11" name="TextBox 10"/>
          <p:cNvSpPr txBox="1"/>
          <p:nvPr/>
        </p:nvSpPr>
        <p:spPr>
          <a:xfrm>
            <a:off x="4572000" y="4572000"/>
            <a:ext cx="2926080" cy="1280160"/>
          </a:xfrm>
          <a:prstGeom prst="rect">
            <a:avLst/>
          </a:prstGeom>
          <a:noFill/>
        </p:spPr>
        <p:txBody>
          <a:bodyPr wrap="square" anchor="t">
            <a:spAutoFit/>
          </a:bodyPr>
          <a:lstStyle/>
          <a:p>
            <a:pPr algn="l">
              <a:lnSpc>
                <a:spcPct val="125000"/>
              </a:lnSpc>
            </a:pPr>
            <a:r>
              <a:rPr sz="1100" b="0" i="0">
                <a:solidFill>
                  <a:srgbClr val="64748B"/>
                </a:solidFill>
                <a:latin typeface="Calibri"/>
              </a:rPr>
              <a:t>Up from $772M in 2024 — a 28.6% annual growth path.</a:t>
            </a:r>
          </a:p>
        </p:txBody>
      </p:sp>
      <p:sp>
        <p:nvSpPr>
          <p:cNvPr id="12" name="Rounded Rectangle 11"/>
          <p:cNvSpPr/>
          <p:nvPr/>
        </p:nvSpPr>
        <p:spPr>
          <a:xfrm>
            <a:off x="8046720" y="2011680"/>
            <a:ext cx="3291840" cy="402336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2286000"/>
            <a:ext cx="2926080" cy="1645920"/>
          </a:xfrm>
          <a:prstGeom prst="rect">
            <a:avLst/>
          </a:prstGeom>
          <a:noFill/>
        </p:spPr>
        <p:txBody>
          <a:bodyPr wrap="square" anchor="ctr">
            <a:spAutoFit/>
          </a:bodyPr>
          <a:lstStyle/>
          <a:p>
            <a:pPr algn="l">
              <a:lnSpc>
                <a:spcPct val="115000"/>
              </a:lnSpc>
            </a:pPr>
            <a:r>
              <a:rPr sz="4000" b="1" i="0">
                <a:solidFill>
                  <a:srgbClr val="0D9488"/>
                </a:solidFill>
                <a:latin typeface="Calibri"/>
              </a:rPr>
              <a:t>2%</a:t>
            </a:r>
          </a:p>
        </p:txBody>
      </p:sp>
      <p:sp>
        <p:nvSpPr>
          <p:cNvPr id="14" name="TextBox 13"/>
          <p:cNvSpPr txBox="1"/>
          <p:nvPr/>
        </p:nvSpPr>
        <p:spPr>
          <a:xfrm>
            <a:off x="8229600" y="4023360"/>
            <a:ext cx="2926080" cy="731520"/>
          </a:xfrm>
          <a:prstGeom prst="rect">
            <a:avLst/>
          </a:prstGeom>
          <a:noFill/>
        </p:spPr>
        <p:txBody>
          <a:bodyPr wrap="square" anchor="t">
            <a:spAutoFit/>
          </a:bodyPr>
          <a:lstStyle/>
          <a:p>
            <a:pPr algn="l">
              <a:lnSpc>
                <a:spcPct val="115000"/>
              </a:lnSpc>
            </a:pPr>
            <a:r>
              <a:rPr sz="1500" b="1" i="0">
                <a:solidFill>
                  <a:srgbClr val="0F172A"/>
                </a:solidFill>
                <a:latin typeface="Calibri"/>
              </a:rPr>
              <a:t>PH at Integrator stage</a:t>
            </a:r>
          </a:p>
        </p:txBody>
      </p:sp>
      <p:sp>
        <p:nvSpPr>
          <p:cNvPr id="15" name="TextBox 14"/>
          <p:cNvSpPr txBox="1"/>
          <p:nvPr/>
        </p:nvSpPr>
        <p:spPr>
          <a:xfrm>
            <a:off x="8229600" y="4572000"/>
            <a:ext cx="2926080" cy="1280160"/>
          </a:xfrm>
          <a:prstGeom prst="rect">
            <a:avLst/>
          </a:prstGeom>
          <a:noFill/>
        </p:spPr>
        <p:txBody>
          <a:bodyPr wrap="square" anchor="t">
            <a:spAutoFit/>
          </a:bodyPr>
          <a:lstStyle/>
          <a:p>
            <a:pPr algn="l">
              <a:lnSpc>
                <a:spcPct val="125000"/>
              </a:lnSpc>
            </a:pPr>
            <a:r>
              <a:rPr sz="1100" b="0" i="0">
                <a:solidFill>
                  <a:srgbClr val="64748B"/>
                </a:solidFill>
                <a:latin typeface="Calibri"/>
              </a:rPr>
              <a:t>Zero firms at AI "Leader" stage. First-mover window is open.</a:t>
            </a:r>
          </a:p>
        </p:txBody>
      </p:sp>
      <p:sp>
        <p:nvSpPr>
          <p:cNvPr id="16" name="Rounded Rectangle 15"/>
          <p:cNvSpPr/>
          <p:nvPr/>
        </p:nvSpPr>
        <p:spPr>
          <a:xfrm>
            <a:off x="0" y="6675120"/>
            <a:ext cx="12191695" cy="146304"/>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822960"/>
          </a:xfrm>
          <a:prstGeom prst="rect">
            <a:avLst/>
          </a:prstGeom>
          <a:noFill/>
        </p:spPr>
        <p:txBody>
          <a:bodyPr wrap="square" anchor="t">
            <a:spAutoFit/>
          </a:bodyPr>
          <a:lstStyle/>
          <a:p>
            <a:pPr algn="l">
              <a:lnSpc>
                <a:spcPct val="115000"/>
              </a:lnSpc>
            </a:pPr>
            <a:r>
              <a:rPr sz="2400" b="1" i="0">
                <a:solidFill>
                  <a:srgbClr val="0F172A"/>
                </a:solidFill>
                <a:latin typeface="Calibri"/>
              </a:rPr>
              <a:t>ICS's 40 Years of Customer Trust Is the Unfair Advantage in AI Delivery</a:t>
            </a:r>
          </a:p>
        </p:txBody>
      </p:sp>
      <p:sp>
        <p:nvSpPr>
          <p:cNvPr id="4" name="Rounded Rectangle 3"/>
          <p:cNvSpPr/>
          <p:nvPr/>
        </p:nvSpPr>
        <p:spPr>
          <a:xfrm>
            <a:off x="731520" y="1828800"/>
            <a:ext cx="3291840" cy="429768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2926080" cy="640080"/>
          </a:xfrm>
          <a:prstGeom prst="rect">
            <a:avLst/>
          </a:prstGeom>
          <a:noFill/>
        </p:spPr>
        <p:txBody>
          <a:bodyPr wrap="square" anchor="t">
            <a:spAutoFit/>
          </a:bodyPr>
          <a:lstStyle/>
          <a:p>
            <a:pPr algn="l">
              <a:lnSpc>
                <a:spcPct val="115000"/>
              </a:lnSpc>
            </a:pPr>
            <a:r>
              <a:rPr sz="1600" b="1" i="0">
                <a:solidFill>
                  <a:srgbClr val="0F172A"/>
                </a:solidFill>
                <a:latin typeface="Calibri"/>
              </a:rPr>
              <a:t>40 Years of Trust</a:t>
            </a:r>
          </a:p>
        </p:txBody>
      </p:sp>
      <p:sp>
        <p:nvSpPr>
          <p:cNvPr id="6" name="TextBox 5"/>
          <p:cNvSpPr txBox="1"/>
          <p:nvPr/>
        </p:nvSpPr>
        <p:spPr>
          <a:xfrm>
            <a:off x="914400" y="2834640"/>
            <a:ext cx="2926080" cy="3108960"/>
          </a:xfrm>
          <a:prstGeom prst="rect">
            <a:avLst/>
          </a:prstGeom>
          <a:noFill/>
        </p:spPr>
        <p:txBody>
          <a:bodyPr wrap="square">
            <a:spAutoFit/>
          </a:bodyPr>
          <a:lstStyle/>
          <a:p>
            <a:pPr>
              <a:lnSpc>
                <a:spcPct val="115000"/>
              </a:lnSpc>
              <a:spcAft>
                <a:spcPts val="600"/>
              </a:spcAft>
            </a:pPr>
            <a:r>
              <a:rPr sz="1200">
                <a:solidFill>
                  <a:srgbClr val="1E293B"/>
                </a:solidFill>
                <a:latin typeface="Calibri"/>
              </a:rPr>
              <a:t>•  Deep relationships with the Philippines' top 1,000 enterprises.</a:t>
            </a:r>
          </a:p>
          <a:p>
            <a:pPr>
              <a:lnSpc>
                <a:spcPct val="115000"/>
              </a:lnSpc>
              <a:spcAft>
                <a:spcPts val="600"/>
              </a:spcAft>
            </a:pPr>
            <a:r>
              <a:rPr sz="1200">
                <a:solidFill>
                  <a:srgbClr val="1E293B"/>
                </a:solidFill>
                <a:latin typeface="Calibri"/>
              </a:rPr>
              <a:t>•  A 3-5 year window before AI-native entrants can match this.</a:t>
            </a:r>
          </a:p>
        </p:txBody>
      </p:sp>
      <p:sp>
        <p:nvSpPr>
          <p:cNvPr id="7" name="Rounded Rectangle 6"/>
          <p:cNvSpPr/>
          <p:nvPr/>
        </p:nvSpPr>
        <p:spPr>
          <a:xfrm>
            <a:off x="4389120" y="1828800"/>
            <a:ext cx="3291840" cy="429768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89120" y="1828800"/>
            <a:ext cx="3291840" cy="9144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103120"/>
            <a:ext cx="2926080" cy="640080"/>
          </a:xfrm>
          <a:prstGeom prst="rect">
            <a:avLst/>
          </a:prstGeom>
          <a:noFill/>
        </p:spPr>
        <p:txBody>
          <a:bodyPr wrap="square" anchor="t">
            <a:spAutoFit/>
          </a:bodyPr>
          <a:lstStyle/>
          <a:p>
            <a:pPr algn="l">
              <a:lnSpc>
                <a:spcPct val="115000"/>
              </a:lnSpc>
            </a:pPr>
            <a:r>
              <a:rPr sz="1600" b="1" i="0">
                <a:solidFill>
                  <a:srgbClr val="0F172A"/>
                </a:solidFill>
                <a:latin typeface="Calibri"/>
              </a:rPr>
              <a:t>Domain Expertise</a:t>
            </a:r>
          </a:p>
        </p:txBody>
      </p:sp>
      <p:sp>
        <p:nvSpPr>
          <p:cNvPr id="10" name="TextBox 9"/>
          <p:cNvSpPr txBox="1"/>
          <p:nvPr/>
        </p:nvSpPr>
        <p:spPr>
          <a:xfrm>
            <a:off x="4572000" y="2834640"/>
            <a:ext cx="2926080" cy="3108960"/>
          </a:xfrm>
          <a:prstGeom prst="rect">
            <a:avLst/>
          </a:prstGeom>
          <a:noFill/>
        </p:spPr>
        <p:txBody>
          <a:bodyPr wrap="square">
            <a:spAutoFit/>
          </a:bodyPr>
          <a:lstStyle/>
          <a:p>
            <a:pPr>
              <a:lnSpc>
                <a:spcPct val="115000"/>
              </a:lnSpc>
              <a:spcAft>
                <a:spcPts val="600"/>
              </a:spcAft>
            </a:pPr>
            <a:r>
              <a:rPr sz="1200">
                <a:solidFill>
                  <a:srgbClr val="1E293B"/>
                </a:solidFill>
                <a:latin typeface="Calibri"/>
              </a:rPr>
              <a:t>•  IT Audit, SAP, and MDR are ready-made AI use cases.</a:t>
            </a:r>
          </a:p>
          <a:p>
            <a:pPr>
              <a:lnSpc>
                <a:spcPct val="115000"/>
              </a:lnSpc>
              <a:spcAft>
                <a:spcPts val="600"/>
              </a:spcAft>
            </a:pPr>
            <a:r>
              <a:rPr sz="1200">
                <a:solidFill>
                  <a:srgbClr val="1E293B"/>
                </a:solidFill>
                <a:latin typeface="Calibri"/>
              </a:rPr>
              <a:t>•  Agentic AI delivers 30-40% productivity gains in these areas.</a:t>
            </a:r>
          </a:p>
        </p:txBody>
      </p:sp>
      <p:sp>
        <p:nvSpPr>
          <p:cNvPr id="11" name="Rounded Rectangle 10"/>
          <p:cNvSpPr/>
          <p:nvPr/>
        </p:nvSpPr>
        <p:spPr>
          <a:xfrm>
            <a:off x="8046720" y="1828800"/>
            <a:ext cx="3291840" cy="429768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2103120"/>
            <a:ext cx="2926080" cy="640080"/>
          </a:xfrm>
          <a:prstGeom prst="rect">
            <a:avLst/>
          </a:prstGeom>
          <a:noFill/>
        </p:spPr>
        <p:txBody>
          <a:bodyPr wrap="square" anchor="t">
            <a:spAutoFit/>
          </a:bodyPr>
          <a:lstStyle/>
          <a:p>
            <a:pPr algn="l">
              <a:lnSpc>
                <a:spcPct val="115000"/>
              </a:lnSpc>
            </a:pPr>
            <a:r>
              <a:rPr sz="1600" b="1" i="0">
                <a:solidFill>
                  <a:srgbClr val="0F172A"/>
                </a:solidFill>
                <a:latin typeface="Calibri"/>
              </a:rPr>
              <a:t>Platform Ecosystem</a:t>
            </a:r>
          </a:p>
        </p:txBody>
      </p:sp>
      <p:sp>
        <p:nvSpPr>
          <p:cNvPr id="13" name="TextBox 12"/>
          <p:cNvSpPr txBox="1"/>
          <p:nvPr/>
        </p:nvSpPr>
        <p:spPr>
          <a:xfrm>
            <a:off x="8229600" y="2834640"/>
            <a:ext cx="2926080" cy="3108960"/>
          </a:xfrm>
          <a:prstGeom prst="rect">
            <a:avLst/>
          </a:prstGeom>
          <a:noFill/>
        </p:spPr>
        <p:txBody>
          <a:bodyPr wrap="square">
            <a:spAutoFit/>
          </a:bodyPr>
          <a:lstStyle/>
          <a:p>
            <a:pPr>
              <a:lnSpc>
                <a:spcPct val="115000"/>
              </a:lnSpc>
              <a:spcAft>
                <a:spcPts val="600"/>
              </a:spcAft>
            </a:pPr>
            <a:r>
              <a:rPr sz="1200">
                <a:solidFill>
                  <a:srgbClr val="1E293B"/>
                </a:solidFill>
              </a:rPr>
              <a:t>•  </a:t>
            </a:r>
            <a:r>
              <a:rPr sz="1200" b="0">
                <a:solidFill>
                  <a:srgbClr val="1E293B"/>
                </a:solidFill>
                <a:latin typeface="Calibri"/>
              </a:rPr>
              <a:t>Microsoft Copilot Studio: </a:t>
            </a:r>
            <a:r>
              <a:rPr sz="1200" b="0">
                <a:solidFill>
                  <a:srgbClr val="1E293B"/>
                </a:solidFill>
                <a:latin typeface="Calibri"/>
              </a:rPr>
              <a:t> 230,000+ organizations building agents.</a:t>
            </a:r>
          </a:p>
          <a:p>
            <a:pPr>
              <a:lnSpc>
                <a:spcPct val="115000"/>
              </a:lnSpc>
              <a:spcAft>
                <a:spcPts val="600"/>
              </a:spcAft>
            </a:pPr>
            <a:r>
              <a:rPr sz="1200">
                <a:solidFill>
                  <a:srgbClr val="1E293B"/>
                </a:solidFill>
                <a:latin typeface="Calibri"/>
              </a:rPr>
              <a:t>•  Salesforce Agentforce agents grew 119% in H1 2025. They need local SIs to deploy.</a:t>
            </a:r>
          </a:p>
        </p:txBody>
      </p:sp>
      <p:sp>
        <p:nvSpPr>
          <p:cNvPr id="14" name="Rounded Rectangle 13"/>
          <p:cNvSpPr/>
          <p:nvPr/>
        </p:nvSpPr>
        <p:spPr>
          <a:xfrm>
            <a:off x="0" y="6675120"/>
            <a:ext cx="12191695" cy="146304"/>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822960"/>
          </a:xfrm>
          <a:prstGeom prst="rect">
            <a:avLst/>
          </a:prstGeom>
          <a:noFill/>
        </p:spPr>
        <p:txBody>
          <a:bodyPr wrap="square" anchor="t">
            <a:spAutoFit/>
          </a:bodyPr>
          <a:lstStyle/>
          <a:p>
            <a:pPr algn="l">
              <a:lnSpc>
                <a:spcPct val="115000"/>
              </a:lnSpc>
            </a:pPr>
            <a:r>
              <a:rPr sz="2400" b="1" i="0">
                <a:solidFill>
                  <a:srgbClr val="0F172A"/>
                </a:solidFill>
                <a:latin typeface="Calibri"/>
              </a:rPr>
              <a:t>A Focused Three-Pillar Roadmap Transforms ICS from Hardware Reseller to AI SI</a:t>
            </a:r>
          </a:p>
        </p:txBody>
      </p:sp>
      <p:sp>
        <p:nvSpPr>
          <p:cNvPr id="4" name="Rounded Rectangle 3"/>
          <p:cNvSpPr/>
          <p:nvPr/>
        </p:nvSpPr>
        <p:spPr>
          <a:xfrm>
            <a:off x="731520" y="1737360"/>
            <a:ext cx="5120640" cy="210312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502920"/>
          </a:xfrm>
          <a:prstGeom prst="rect">
            <a:avLst/>
          </a:prstGeom>
          <a:noFill/>
        </p:spPr>
        <p:txBody>
          <a:bodyPr wrap="square" anchor="t">
            <a:spAutoFit/>
          </a:bodyPr>
          <a:lstStyle/>
          <a:p>
            <a:pPr algn="l">
              <a:lnSpc>
                <a:spcPct val="115000"/>
              </a:lnSpc>
            </a:pPr>
            <a:r>
              <a:rPr sz="1500" b="1" i="0">
                <a:solidFill>
                  <a:srgbClr val="0F172A"/>
                </a:solidFill>
                <a:latin typeface="Calibri"/>
              </a:rPr>
              <a:t>IT Audit Automation</a:t>
            </a:r>
          </a:p>
        </p:txBody>
      </p:sp>
      <p:sp>
        <p:nvSpPr>
          <p:cNvPr id="6" name="TextBox 5"/>
          <p:cNvSpPr txBox="1"/>
          <p:nvPr/>
        </p:nvSpPr>
        <p:spPr>
          <a:xfrm>
            <a:off x="960120" y="2423160"/>
            <a:ext cx="4663440" cy="1325880"/>
          </a:xfrm>
          <a:prstGeom prst="rect">
            <a:avLst/>
          </a:prstGeom>
          <a:noFill/>
        </p:spPr>
        <p:txBody>
          <a:bodyPr wrap="square">
            <a:spAutoFit/>
          </a:bodyPr>
          <a:lstStyle/>
          <a:p>
            <a:pPr>
              <a:lnSpc>
                <a:spcPct val="120000"/>
              </a:lnSpc>
              <a:spcAft>
                <a:spcPts val="600"/>
              </a:spcAft>
            </a:pPr>
            <a:r>
              <a:rPr sz="1200">
                <a:solidFill>
                  <a:srgbClr val="1E293B"/>
                </a:solidFill>
                <a:latin typeface="Calibri"/>
              </a:rPr>
              <a:t>•  Automate compliance checks and audit report generation.</a:t>
            </a:r>
          </a:p>
          <a:p>
            <a:pPr>
              <a:lnSpc>
                <a:spcPct val="120000"/>
              </a:lnSpc>
              <a:spcAft>
                <a:spcPts val="600"/>
              </a:spcAft>
            </a:pPr>
            <a:r>
              <a:rPr sz="1200">
                <a:solidFill>
                  <a:srgbClr val="1E293B"/>
                </a:solidFill>
                <a:latin typeface="Calibri"/>
              </a:rPr>
              <a:t>•  Turn labor-heavy service into scalable, high-margin revenue.</a:t>
            </a:r>
          </a:p>
          <a:p>
            <a:pPr>
              <a:lnSpc>
                <a:spcPct val="120000"/>
              </a:lnSpc>
              <a:spcAft>
                <a:spcPts val="600"/>
              </a:spcAft>
            </a:pPr>
            <a:r>
              <a:rPr sz="1200">
                <a:solidFill>
                  <a:srgbClr val="1E293B"/>
                </a:solidFill>
              </a:rPr>
              <a:t>•  </a:t>
            </a:r>
            <a:r>
              <a:rPr sz="1200" b="0">
                <a:solidFill>
                  <a:srgbClr val="1E293B"/>
                </a:solidFill>
                <a:latin typeface="Calibri"/>
              </a:rPr>
              <a:t>Quick win: </a:t>
            </a:r>
            <a:r>
              <a:rPr sz="1200" b="0">
                <a:solidFill>
                  <a:srgbClr val="1E293B"/>
                </a:solidFill>
                <a:latin typeface="Calibri"/>
              </a:rPr>
              <a:t> existing audit clients, existing tools.</a:t>
            </a:r>
          </a:p>
        </p:txBody>
      </p:sp>
      <p:sp>
        <p:nvSpPr>
          <p:cNvPr id="7" name="Rounded Rectangle 6"/>
          <p:cNvSpPr/>
          <p:nvPr/>
        </p:nvSpPr>
        <p:spPr>
          <a:xfrm>
            <a:off x="6217920" y="1737360"/>
            <a:ext cx="5120640" cy="210312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74519"/>
            <a:ext cx="4663440" cy="502920"/>
          </a:xfrm>
          <a:prstGeom prst="rect">
            <a:avLst/>
          </a:prstGeom>
          <a:noFill/>
        </p:spPr>
        <p:txBody>
          <a:bodyPr wrap="square" anchor="t">
            <a:spAutoFit/>
          </a:bodyPr>
          <a:lstStyle/>
          <a:p>
            <a:pPr algn="l">
              <a:lnSpc>
                <a:spcPct val="115000"/>
              </a:lnSpc>
            </a:pPr>
            <a:r>
              <a:rPr sz="1500" b="1" i="0">
                <a:solidFill>
                  <a:srgbClr val="0F172A"/>
                </a:solidFill>
                <a:latin typeface="Calibri"/>
              </a:rPr>
              <a:t>SAP Enhancement</a:t>
            </a:r>
          </a:p>
        </p:txBody>
      </p:sp>
      <p:sp>
        <p:nvSpPr>
          <p:cNvPr id="9" name="TextBox 8"/>
          <p:cNvSpPr txBox="1"/>
          <p:nvPr/>
        </p:nvSpPr>
        <p:spPr>
          <a:xfrm>
            <a:off x="6446520" y="2423160"/>
            <a:ext cx="4663440" cy="1325880"/>
          </a:xfrm>
          <a:prstGeom prst="rect">
            <a:avLst/>
          </a:prstGeom>
          <a:noFill/>
        </p:spPr>
        <p:txBody>
          <a:bodyPr wrap="square">
            <a:spAutoFit/>
          </a:bodyPr>
          <a:lstStyle/>
          <a:p>
            <a:pPr>
              <a:lnSpc>
                <a:spcPct val="120000"/>
              </a:lnSpc>
              <a:spcAft>
                <a:spcPts val="600"/>
              </a:spcAft>
            </a:pPr>
            <a:r>
              <a:rPr sz="1200">
                <a:solidFill>
                  <a:srgbClr val="1E293B"/>
                </a:solidFill>
                <a:latin typeface="Calibri"/>
              </a:rPr>
              <a:t>•  Add AI monitoring and anomaly detection to SAP installs.</a:t>
            </a:r>
          </a:p>
          <a:p>
            <a:pPr>
              <a:lnSpc>
                <a:spcPct val="120000"/>
              </a:lnSpc>
              <a:spcAft>
                <a:spcPts val="600"/>
              </a:spcAft>
            </a:pPr>
            <a:r>
              <a:rPr sz="1200">
                <a:solidFill>
                  <a:srgbClr val="1E293B"/>
                </a:solidFill>
                <a:latin typeface="Calibri"/>
              </a:rPr>
              <a:t>•  Upsell intelligent operations inside an existing customer base.</a:t>
            </a:r>
          </a:p>
          <a:p>
            <a:pPr>
              <a:lnSpc>
                <a:spcPct val="120000"/>
              </a:lnSpc>
              <a:spcAft>
                <a:spcPts val="600"/>
              </a:spcAft>
            </a:pPr>
            <a:r>
              <a:rPr sz="1200">
                <a:solidFill>
                  <a:srgbClr val="1E293B"/>
                </a:solidFill>
              </a:rPr>
              <a:t>•  </a:t>
            </a:r>
            <a:r>
              <a:rPr sz="1200" b="0">
                <a:solidFill>
                  <a:srgbClr val="1E293B"/>
                </a:solidFill>
                <a:latin typeface="Calibri"/>
              </a:rPr>
              <a:t>Quick win: </a:t>
            </a:r>
            <a:r>
              <a:rPr sz="1200" b="0">
                <a:solidFill>
                  <a:srgbClr val="1E293B"/>
                </a:solidFill>
                <a:latin typeface="Calibri"/>
              </a:rPr>
              <a:t> 100+ SAP customers already trust ICS.</a:t>
            </a:r>
          </a:p>
        </p:txBody>
      </p:sp>
      <p:sp>
        <p:nvSpPr>
          <p:cNvPr id="10" name="Rounded Rectangle 9"/>
          <p:cNvSpPr/>
          <p:nvPr/>
        </p:nvSpPr>
        <p:spPr>
          <a:xfrm>
            <a:off x="731520" y="3931920"/>
            <a:ext cx="5120640" cy="210312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069080"/>
            <a:ext cx="4663440" cy="502920"/>
          </a:xfrm>
          <a:prstGeom prst="rect">
            <a:avLst/>
          </a:prstGeom>
          <a:noFill/>
        </p:spPr>
        <p:txBody>
          <a:bodyPr wrap="square" anchor="t">
            <a:spAutoFit/>
          </a:bodyPr>
          <a:lstStyle/>
          <a:p>
            <a:pPr algn="l">
              <a:lnSpc>
                <a:spcPct val="115000"/>
              </a:lnSpc>
            </a:pPr>
            <a:r>
              <a:rPr sz="1500" b="1" i="0">
                <a:solidFill>
                  <a:srgbClr val="0F172A"/>
                </a:solidFill>
                <a:latin typeface="Calibri"/>
              </a:rPr>
              <a:t>AI-Powered MDR</a:t>
            </a:r>
          </a:p>
        </p:txBody>
      </p:sp>
      <p:sp>
        <p:nvSpPr>
          <p:cNvPr id="12" name="TextBox 11"/>
          <p:cNvSpPr txBox="1"/>
          <p:nvPr/>
        </p:nvSpPr>
        <p:spPr>
          <a:xfrm>
            <a:off x="960120" y="4617720"/>
            <a:ext cx="4663440" cy="1325880"/>
          </a:xfrm>
          <a:prstGeom prst="rect">
            <a:avLst/>
          </a:prstGeom>
          <a:noFill/>
        </p:spPr>
        <p:txBody>
          <a:bodyPr wrap="square">
            <a:spAutoFit/>
          </a:bodyPr>
          <a:lstStyle/>
          <a:p>
            <a:pPr>
              <a:lnSpc>
                <a:spcPct val="120000"/>
              </a:lnSpc>
              <a:spcAft>
                <a:spcPts val="600"/>
              </a:spcAft>
            </a:pPr>
            <a:r>
              <a:rPr sz="1200">
                <a:solidFill>
                  <a:srgbClr val="1E293B"/>
                </a:solidFill>
                <a:latin typeface="Calibri"/>
              </a:rPr>
              <a:t>•  Upgrade resold WatchGuard and ConnectWise MDR with AI response.</a:t>
            </a:r>
          </a:p>
          <a:p>
            <a:pPr>
              <a:lnSpc>
                <a:spcPct val="120000"/>
              </a:lnSpc>
              <a:spcAft>
                <a:spcPts val="600"/>
              </a:spcAft>
            </a:pPr>
            <a:r>
              <a:rPr sz="1200">
                <a:solidFill>
                  <a:srgbClr val="1E293B"/>
                </a:solidFill>
                <a:latin typeface="Calibri"/>
              </a:rPr>
              <a:t>•  Offer premium tiered security at higher margins.</a:t>
            </a:r>
          </a:p>
          <a:p>
            <a:pPr>
              <a:lnSpc>
                <a:spcPct val="120000"/>
              </a:lnSpc>
              <a:spcAft>
                <a:spcPts val="600"/>
              </a:spcAft>
            </a:pPr>
            <a:r>
              <a:rPr sz="1200">
                <a:solidFill>
                  <a:srgbClr val="1E293B"/>
                </a:solidFill>
              </a:rPr>
              <a:t>•  </a:t>
            </a:r>
            <a:r>
              <a:rPr sz="1200" b="0">
                <a:solidFill>
                  <a:srgbClr val="1E293B"/>
                </a:solidFill>
                <a:latin typeface="Calibri"/>
              </a:rPr>
              <a:t>Quick win: </a:t>
            </a:r>
            <a:r>
              <a:rPr sz="1200" b="0">
                <a:solidFill>
                  <a:srgbClr val="1E293B"/>
                </a:solidFill>
                <a:latin typeface="Calibri"/>
              </a:rPr>
              <a:t> extend current MSSP agreements.</a:t>
            </a:r>
          </a:p>
        </p:txBody>
      </p:sp>
      <p:sp>
        <p:nvSpPr>
          <p:cNvPr id="13" name="Rounded Rectangle 12"/>
          <p:cNvSpPr/>
          <p:nvPr/>
        </p:nvSpPr>
        <p:spPr>
          <a:xfrm>
            <a:off x="6217920" y="3931920"/>
            <a:ext cx="5120640" cy="210312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069080"/>
            <a:ext cx="4663440" cy="502920"/>
          </a:xfrm>
          <a:prstGeom prst="rect">
            <a:avLst/>
          </a:prstGeom>
          <a:noFill/>
        </p:spPr>
        <p:txBody>
          <a:bodyPr wrap="square" anchor="t">
            <a:spAutoFit/>
          </a:bodyPr>
          <a:lstStyle/>
          <a:p>
            <a:pPr algn="l">
              <a:lnSpc>
                <a:spcPct val="115000"/>
              </a:lnSpc>
            </a:pPr>
            <a:r>
              <a:rPr sz="1500" b="1" i="0">
                <a:solidFill>
                  <a:srgbClr val="0D9488"/>
                </a:solidFill>
                <a:latin typeface="Calibri"/>
              </a:rPr>
              <a:t>Enablement Engine</a:t>
            </a:r>
          </a:p>
        </p:txBody>
      </p:sp>
      <p:sp>
        <p:nvSpPr>
          <p:cNvPr id="15" name="TextBox 14"/>
          <p:cNvSpPr txBox="1"/>
          <p:nvPr/>
        </p:nvSpPr>
        <p:spPr>
          <a:xfrm>
            <a:off x="6446520" y="4617720"/>
            <a:ext cx="4663440" cy="1325880"/>
          </a:xfrm>
          <a:prstGeom prst="rect">
            <a:avLst/>
          </a:prstGeom>
          <a:noFill/>
        </p:spPr>
        <p:txBody>
          <a:bodyPr wrap="square">
            <a:spAutoFit/>
          </a:bodyPr>
          <a:lstStyle/>
          <a:p>
            <a:pPr>
              <a:lnSpc>
                <a:spcPct val="120000"/>
              </a:lnSpc>
              <a:spcAft>
                <a:spcPts val="600"/>
              </a:spcAft>
            </a:pPr>
            <a:r>
              <a:rPr sz="1200">
                <a:solidFill>
                  <a:srgbClr val="1E293B"/>
                </a:solidFill>
                <a:latin typeface="Calibri"/>
              </a:rPr>
              <a:t>•  Hire AI talent and lock in Microsoft and Salesforce partnerships.</a:t>
            </a:r>
          </a:p>
          <a:p>
            <a:pPr>
              <a:lnSpc>
                <a:spcPct val="120000"/>
              </a:lnSpc>
              <a:spcAft>
                <a:spcPts val="600"/>
              </a:spcAft>
            </a:pPr>
            <a:r>
              <a:rPr sz="1200">
                <a:solidFill>
                  <a:srgbClr val="1E293B"/>
                </a:solidFill>
                <a:latin typeface="Calibri"/>
              </a:rPr>
              <a:t>•  Prove value with 2-3 anchor-client pilots in the first 90 days.</a:t>
            </a:r>
          </a:p>
        </p:txBody>
      </p:sp>
      <p:sp>
        <p:nvSpPr>
          <p:cNvPr id="16" name="Rounded Rectangle 15"/>
          <p:cNvSpPr/>
          <p:nvPr/>
        </p:nvSpPr>
        <p:spPr>
          <a:xfrm>
            <a:off x="0" y="6675120"/>
            <a:ext cx="12191695" cy="146304"/>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73152"/>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822960"/>
          </a:xfrm>
          <a:prstGeom prst="rect">
            <a:avLst/>
          </a:prstGeom>
          <a:noFill/>
        </p:spPr>
        <p:txBody>
          <a:bodyPr wrap="square" anchor="t">
            <a:spAutoFit/>
          </a:bodyPr>
          <a:lstStyle/>
          <a:p>
            <a:pPr algn="l">
              <a:lnSpc>
                <a:spcPct val="115000"/>
              </a:lnSpc>
            </a:pPr>
            <a:r>
              <a:rPr sz="2400" b="1" i="0">
                <a:solidFill>
                  <a:srgbClr val="0F172A"/>
                </a:solidFill>
                <a:latin typeface="Calibri"/>
              </a:rPr>
              <a:t>Board Approval of AI Agent Investment Secures ICS's Next Decade</a:t>
            </a:r>
          </a:p>
        </p:txBody>
      </p:sp>
      <p:sp>
        <p:nvSpPr>
          <p:cNvPr id="4" name="Rounded Rectangle 3"/>
          <p:cNvSpPr/>
          <p:nvPr/>
        </p:nvSpPr>
        <p:spPr>
          <a:xfrm>
            <a:off x="731520" y="1828800"/>
            <a:ext cx="5029200" cy="420624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377440"/>
            <a:ext cx="4480560" cy="3474720"/>
          </a:xfrm>
          <a:prstGeom prst="rect">
            <a:avLst/>
          </a:prstGeom>
          <a:noFill/>
        </p:spPr>
        <p:txBody>
          <a:bodyPr wrap="square" anchor="ctr">
            <a:spAutoFit/>
          </a:bodyPr>
          <a:lstStyle/>
          <a:p>
            <a:pPr algn="l">
              <a:lnSpc>
                <a:spcPct val="120000"/>
              </a:lnSpc>
            </a:pPr>
            <a:r>
              <a:rPr sz="2000" b="1" i="0">
                <a:solidFill>
                  <a:srgbClr val="0F172A"/>
                </a:solidFill>
                <a:latin typeface="Calibri"/>
              </a:rPr>
              <a:t>Approve the AI Agent Practice now — the window is open</a:t>
            </a:r>
          </a:p>
        </p:txBody>
      </p:sp>
      <p:sp>
        <p:nvSpPr>
          <p:cNvPr id="6" name="TextBox 5"/>
          <p:cNvSpPr txBox="1"/>
          <p:nvPr/>
        </p:nvSpPr>
        <p:spPr>
          <a:xfrm>
            <a:off x="6217920" y="2011680"/>
            <a:ext cx="5212080" cy="4023360"/>
          </a:xfrm>
          <a:prstGeom prst="rect">
            <a:avLst/>
          </a:prstGeom>
          <a:noFill/>
        </p:spPr>
        <p:txBody>
          <a:bodyPr wrap="square">
            <a:spAutoFit/>
          </a:bodyPr>
          <a:lstStyle/>
          <a:p>
            <a:pPr>
              <a:lnSpc>
                <a:spcPct val="115000"/>
              </a:lnSpc>
              <a:spcAft>
                <a:spcPts val="600"/>
              </a:spcAft>
            </a:pPr>
            <a:r>
              <a:rPr sz="1300">
                <a:solidFill>
                  <a:srgbClr val="1E293B"/>
                </a:solidFill>
              </a:rPr>
              <a:t>•  </a:t>
            </a:r>
            <a:r>
              <a:rPr sz="1300" b="1">
                <a:solidFill>
                  <a:srgbClr val="1E293B"/>
                </a:solidFill>
                <a:latin typeface="Calibri"/>
              </a:rPr>
              <a:t>The decision: </a:t>
            </a:r>
            <a:r>
              <a:rPr sz="1300" b="0">
                <a:solidFill>
                  <a:srgbClr val="1E293B"/>
                </a:solidFill>
                <a:latin typeface="Calibri"/>
              </a:rPr>
              <a:t> Authorize a 90-day AI Agent Practice kickoff — team, platforms, pilots.</a:t>
            </a:r>
          </a:p>
          <a:p>
            <a:pPr>
              <a:lnSpc>
                <a:spcPct val="115000"/>
              </a:lnSpc>
              <a:spcAft>
                <a:spcPts val="600"/>
              </a:spcAft>
            </a:pPr>
            <a:r>
              <a:rPr sz="1300">
                <a:solidFill>
                  <a:srgbClr val="1E293B"/>
                </a:solidFill>
              </a:rPr>
              <a:t>•  </a:t>
            </a:r>
            <a:r>
              <a:rPr sz="1300" b="1">
                <a:solidFill>
                  <a:srgbClr val="1E293B"/>
                </a:solidFill>
                <a:latin typeface="Calibri"/>
              </a:rPr>
              <a:t>The cost: </a:t>
            </a:r>
            <a:r>
              <a:rPr sz="1300" b="0">
                <a:solidFill>
                  <a:srgbClr val="1E293B"/>
                </a:solidFill>
                <a:latin typeface="Calibri"/>
              </a:rPr>
              <a:t> Small and talent-led — training and partnership fees, not heavy hardware capex.</a:t>
            </a:r>
          </a:p>
          <a:p>
            <a:pPr>
              <a:lnSpc>
                <a:spcPct val="115000"/>
              </a:lnSpc>
              <a:spcAft>
                <a:spcPts val="600"/>
              </a:spcAft>
            </a:pPr>
            <a:r>
              <a:rPr sz="1300">
                <a:solidFill>
                  <a:srgbClr val="1E293B"/>
                </a:solidFill>
              </a:rPr>
              <a:t>•  </a:t>
            </a:r>
            <a:r>
              <a:rPr sz="1300" b="1">
                <a:solidFill>
                  <a:srgbClr val="1E293B"/>
                </a:solidFill>
                <a:latin typeface="Calibri"/>
              </a:rPr>
              <a:t>The risk: </a:t>
            </a:r>
            <a:r>
              <a:rPr sz="1300" b="0">
                <a:solidFill>
                  <a:srgbClr val="1E293B"/>
                </a:solidFill>
                <a:latin typeface="Calibri"/>
              </a:rPr>
              <a:t> ePLDT has launched Pilipinas AI. AI-native SIs are emerging now.</a:t>
            </a:r>
          </a:p>
          <a:p>
            <a:pPr>
              <a:lnSpc>
                <a:spcPct val="115000"/>
              </a:lnSpc>
              <a:spcAft>
                <a:spcPts val="600"/>
              </a:spcAft>
            </a:pPr>
            <a:r>
              <a:rPr sz="1300">
                <a:solidFill>
                  <a:srgbClr val="1E293B"/>
                </a:solidFill>
              </a:rPr>
              <a:t>•  </a:t>
            </a:r>
            <a:r>
              <a:rPr sz="1300" b="1">
                <a:solidFill>
                  <a:srgbClr val="1E293B"/>
                </a:solidFill>
                <a:latin typeface="Calibri"/>
              </a:rPr>
              <a:t>The payoff: </a:t>
            </a:r>
            <a:r>
              <a:rPr sz="1300" b="0">
                <a:solidFill>
                  <a:srgbClr val="1E293B"/>
                </a:solidFill>
                <a:latin typeface="Calibri"/>
              </a:rPr>
              <a:t> 30-40% productivity gains for early clients; premium services margins for ICS.</a:t>
            </a:r>
          </a:p>
        </p:txBody>
      </p:sp>
      <p:sp>
        <p:nvSpPr>
          <p:cNvPr id="7" name="Rounded Rectangle 6"/>
          <p:cNvSpPr/>
          <p:nvPr/>
        </p:nvSpPr>
        <p:spPr>
          <a:xfrm>
            <a:off x="0" y="6675120"/>
            <a:ext cx="12191695" cy="146304"/>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